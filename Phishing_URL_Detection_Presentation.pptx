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38BDF8"/>
                </a:solidFill>
              </a:defRPr>
            </a:pPr>
            <a:r>
              <a:t>AI SYSTEMS AND APPLICATIONS (AISA) – MINI PROJECT</a:t>
            </a:r>
          </a:p>
          <a:p>
            <a:pPr>
              <a:spcAft>
                <a:spcPts val="1000"/>
              </a:spcAft>
              <a:defRPr sz="3600" b="1">
                <a:solidFill>
                  <a:srgbClr val="F1F5F9"/>
                </a:solidFill>
              </a:defRPr>
            </a:pPr>
            <a:r>
              <a:t>🛡️ PhishShield: Phishing URL Detection System</a:t>
            </a:r>
          </a:p>
          <a:p>
            <a:pPr>
              <a:defRPr sz="1800">
                <a:solidFill>
                  <a:srgbClr val="10B981"/>
                </a:solidFill>
              </a:defRPr>
            </a:pPr>
            <a:r>
              <a:t>A High-Speed AI Threat Intelligence Architecture Powered by 15 Pure Lexical URL Features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4297680"/>
            <a:ext cx="10332720" cy="1645920"/>
          </a:xfrm>
          <a:prstGeom prst="roundRect">
            <a:avLst/>
          </a:prstGeom>
          <a:solidFill>
            <a:srgbClr val="172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4480560"/>
            <a:ext cx="97840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1F5F9"/>
                </a:solidFill>
              </a:defRPr>
            </a:pPr>
            <a:r>
              <a:t>Department of Computer Engineering and Technology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Course: AI Systems &amp; Applications | Semester: 5 | Academic Year: 2026-27</a:t>
            </a:r>
          </a:p>
          <a:p>
            <a:pPr>
              <a:defRPr sz="1200">
                <a:solidFill>
                  <a:srgbClr val="38BDF8"/>
                </a:solidFill>
              </a:defRPr>
            </a:pPr>
            <a:r>
              <a:t>Core Model: Random Forest Classifier (100 Trees) | Accuracy: 99.56% | Zero-Network Latency (&lt;0.8ms)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AISA MINI PROJECT | CYBER SECURITY &amp;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Problem Statement: The Phishing Threat Landscape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172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⚠️ The Real-World Challenge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>
                <a:solidFill>
                  <a:srgbClr val="F1F5F9"/>
                </a:solidFill>
              </a:defRPr>
            </a:pPr>
            <a:r>
              <a:t>• Phishing accounts for over 80% of reported enterprise security breaches globally.</a:t>
            </a:r>
          </a:p>
          <a:p>
            <a:pPr>
              <a:spcAft>
                <a:spcPts val="1000"/>
              </a:spcAft>
              <a:defRPr sz="1200">
                <a:solidFill>
                  <a:srgbClr val="F1F5F9"/>
                </a:solidFill>
              </a:defRPr>
            </a:pPr>
            <a:r>
              <a:t>• Attackers generate thousands of zero-day spoofed URLs daily mimicking banks, PayPal, and cloud portals.</a:t>
            </a:r>
          </a:p>
          <a:p>
            <a:pPr>
              <a:spcAft>
                <a:spcPts val="1000"/>
              </a:spcAft>
              <a:defRPr sz="1200">
                <a:solidFill>
                  <a:srgbClr val="F1F5F9"/>
                </a:solidFill>
              </a:defRPr>
            </a:pPr>
            <a:r>
              <a:t>• Traditional Blacklists (e.g. VirusTotal/PhishTank) only catch domains *after* victims have already been compromised.</a:t>
            </a:r>
          </a:p>
          <a:p>
            <a:pPr>
              <a:spcAft>
                <a:spcPts val="1000"/>
              </a:spcAft>
              <a:defRPr sz="1200">
                <a:solidFill>
                  <a:srgbClr val="F1F5F9"/>
                </a:solidFill>
              </a:defRPr>
            </a:pPr>
            <a:r>
              <a:t>• Zero-day domains evade signature databases for hours or days before manual verification.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212080" cy="4572000"/>
          </a:xfrm>
          <a:prstGeom prst="roundRect">
            <a:avLst/>
          </a:prstGeom>
          <a:solidFill>
            <a:srgbClr val="172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916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❌ The Flaw of Heavy Web Scraping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103120"/>
            <a:ext cx="4846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>
                <a:solidFill>
                  <a:srgbClr val="F1F5F9"/>
                </a:solidFill>
              </a:defRPr>
            </a:pPr>
            <a:r>
              <a:t>• Traditional complex AI tools attempt to fetch full web pages (HTML, scripts, DOM trees).</a:t>
            </a:r>
          </a:p>
          <a:p>
            <a:pPr>
              <a:spcAft>
                <a:spcPts val="1000"/>
              </a:spcAft>
              <a:defRPr sz="1200">
                <a:solidFill>
                  <a:srgbClr val="F1F5F9"/>
                </a:solidFill>
              </a:defRPr>
            </a:pPr>
            <a:r>
              <a:t>• Extreme Latency: Remote requests take 2,000ms – 10,000ms per URL, unacceptable for live firewalls.</a:t>
            </a:r>
          </a:p>
          <a:p>
            <a:pPr>
              <a:spcAft>
                <a:spcPts val="1000"/>
              </a:spcAft>
              <a:defRPr sz="1200">
                <a:solidFill>
                  <a:srgbClr val="F1F5F9"/>
                </a:solidFill>
              </a:defRPr>
            </a:pPr>
            <a:r>
              <a:t>• Dead Domain Failures: If the attacker server goes offline or blocks crawlers, inspection completely crashes.</a:t>
            </a:r>
          </a:p>
          <a:p>
            <a:pPr>
              <a:spcAft>
                <a:spcPts val="1000"/>
              </a:spcAft>
              <a:defRPr sz="1200">
                <a:solidFill>
                  <a:srgbClr val="F1F5F9"/>
                </a:solidFill>
              </a:defRPr>
            </a:pPr>
            <a:r>
              <a:t>• Security Risks: Automated scanners downloading remote scripts risk malware execution in sandbox.</a:t>
            </a:r>
          </a:p>
          <a:p>
            <a:pPr>
              <a:spcAft>
                <a:spcPts val="1000"/>
              </a:spcAft>
              <a:defRPr sz="1200">
                <a:solidFill>
                  <a:srgbClr val="F1F5F9"/>
                </a:solidFill>
              </a:defRPr>
            </a:pPr>
            <a:r>
              <a:t>• Our Solution: Inspect the structural anatomy of the URL string directly with pure lexical AI.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AISA MINI PROJECT | CYBER SECURITY &amp;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Project Objectives &amp; The Simplified Design Philosophy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2011680"/>
          </a:xfrm>
          <a:prstGeom prst="roundRect">
            <a:avLst/>
          </a:prstGeom>
          <a:solidFill>
            <a:srgbClr val="172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⚡ Lightning Speed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1F5F9"/>
                </a:solidFill>
              </a:defRPr>
            </a:pPr>
            <a:r>
              <a:t>Sub-millisecond inference (&lt;0.8ms). Runs directly in memory without remote network calls.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383280" cy="2011680"/>
          </a:xfrm>
          <a:prstGeom prst="roundRect">
            <a:avLst/>
          </a:prstGeom>
          <a:solidFill>
            <a:srgbClr val="172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78308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🛡️ 100% Robustness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194560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1F5F9"/>
                </a:solidFill>
              </a:defRPr>
            </a:pPr>
            <a:r>
              <a:t>Works regardless of whether the malicious website is currently online, suspended, or blocking bots.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383280" cy="2011680"/>
          </a:xfrm>
          <a:prstGeom prst="roundRect">
            <a:avLst/>
          </a:prstGeom>
          <a:solidFill>
            <a:srgbClr val="172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78308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🎯 High Accuracy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194560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1F5F9"/>
                </a:solidFill>
              </a:defRPr>
            </a:pPr>
            <a:r>
              <a:t>Achieves 99.56% detection rate and 99.56% F1-score on authentic benchmark datasets.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023360"/>
            <a:ext cx="10698480" cy="2194560"/>
          </a:xfrm>
          <a:prstGeom prst="roundRect">
            <a:avLst/>
          </a:prstGeom>
          <a:solidFill>
            <a:srgbClr val="172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16052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💡 Why Pure Lexical Heuristics are Superior in Security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57200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50">
                <a:solidFill>
                  <a:srgbClr val="F1F5F9"/>
                </a:solidFill>
              </a:defRPr>
            </a:pPr>
            <a:r>
              <a:t>✓ Attackers cannot hide their URL string: every HTTP request MUST contain the destination URI.</a:t>
            </a:r>
          </a:p>
          <a:p>
            <a:pPr>
              <a:spcAft>
                <a:spcPts val="800"/>
              </a:spcAft>
              <a:defRPr sz="1250">
                <a:solidFill>
                  <a:srgbClr val="F1F5F9"/>
                </a:solidFill>
              </a:defRPr>
            </a:pPr>
            <a:r>
              <a:t>✓ Phishers invariably introduce structural anomalies: lengthened domains, deceptive hyphens, IP addresses, and login tokens.</a:t>
            </a:r>
          </a:p>
          <a:p>
            <a:pPr>
              <a:spcAft>
                <a:spcPts val="800"/>
              </a:spcAft>
              <a:defRPr sz="1250">
                <a:solidFill>
                  <a:srgbClr val="F1F5F9"/>
                </a:solidFill>
              </a:defRPr>
            </a:pPr>
            <a:r>
              <a:t>✓ A lightweight model with 15 focused lexical features is smaller (&lt;1.5MB), immune to network timeout errors, and deployable on edge firewalls and mobile devices.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AISA MINI PROJECT | CYBER SECURITY &amp;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Dataset Overview: Authentic PhiUSIIL Benchmark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4663440"/>
          </a:xfrm>
          <a:prstGeom prst="roundRect">
            <a:avLst/>
          </a:prstGeom>
          <a:solidFill>
            <a:srgbClr val="172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📊 Dataset Distribution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200">
                <a:solidFill>
                  <a:srgbClr val="F1F5F9"/>
                </a:solidFill>
              </a:defRPr>
            </a:pPr>
            <a:r>
              <a:t>• Source: Authentic PhiUSIIL Phishing URL Dataset (UC Irvine ML Repository).</a:t>
            </a:r>
          </a:p>
          <a:p>
            <a:pPr>
              <a:spcAft>
                <a:spcPts val="900"/>
              </a:spcAft>
              <a:defRPr sz="1200">
                <a:solidFill>
                  <a:srgbClr val="F1F5F9"/>
                </a:solidFill>
              </a:defRPr>
            </a:pPr>
            <a:r>
              <a:t>• Total Verified URLs in Source: 235,795 real-world web links.</a:t>
            </a:r>
          </a:p>
          <a:p>
            <a:pPr>
              <a:spcAft>
                <a:spcPts val="900"/>
              </a:spcAft>
              <a:defRPr sz="1200">
                <a:solidFill>
                  <a:srgbClr val="F1F5F9"/>
                </a:solidFill>
              </a:defRPr>
            </a:pPr>
            <a:r>
              <a:t>• Balanced Corpus Selected: 40,000 URLs (20,000 Legitimate + 20,000 Phishing).</a:t>
            </a:r>
          </a:p>
          <a:p>
            <a:pPr>
              <a:spcAft>
                <a:spcPts val="900"/>
              </a:spcAft>
              <a:defRPr sz="1200">
                <a:solidFill>
                  <a:srgbClr val="F1F5F9"/>
                </a:solidFill>
              </a:defRPr>
            </a:pPr>
            <a:r>
              <a:t>• Class Ratio: Exactly 50.0% Legitimate : 50.0% Phishing (eliminates model bias).</a:t>
            </a:r>
          </a:p>
          <a:p>
            <a:pPr>
              <a:spcAft>
                <a:spcPts val="900"/>
              </a:spcAft>
              <a:defRPr sz="1200">
                <a:solidFill>
                  <a:srgbClr val="F1F5F9"/>
                </a:solidFill>
              </a:defRPr>
            </a:pPr>
            <a:r>
              <a:t>• Train-Test Partition: 80% Training (32,000 URLs) | 20% Held-Out Testing (8,000 URLs).</a:t>
            </a:r>
          </a:p>
          <a:p>
            <a:pPr>
              <a:spcAft>
                <a:spcPts val="900"/>
              </a:spcAft>
              <a:defRPr sz="1200">
                <a:solidFill>
                  <a:srgbClr val="F1F5F9"/>
                </a:solidFill>
              </a:defRPr>
            </a:pPr>
            <a:r>
              <a:t>• Stratification: Stratified split ensures perfect class balance across train and test sets.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212080" cy="4663440"/>
          </a:xfrm>
          <a:prstGeom prst="roundRect">
            <a:avLst/>
          </a:prstGeom>
          <a:solidFill>
            <a:srgbClr val="172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916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📈 Preprocessing &amp; Data Pipeline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10312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200">
                <a:solidFill>
                  <a:srgbClr val="F1F5F9"/>
                </a:solidFill>
              </a:defRPr>
            </a:pPr>
            <a:r>
              <a:t>• 1. Raw URL Cleansing: Strips malformed protocols and handles non-standard characters.</a:t>
            </a:r>
          </a:p>
          <a:p>
            <a:pPr>
              <a:spcAft>
                <a:spcPts val="900"/>
              </a:spcAft>
              <a:defRPr sz="1200">
                <a:solidFill>
                  <a:srgbClr val="F1F5F9"/>
                </a:solidFill>
              </a:defRPr>
            </a:pPr>
            <a:r>
              <a:t>• 2. Domain Normalization: Separates network location (host), port numbers, and subdomains.</a:t>
            </a:r>
          </a:p>
          <a:p>
            <a:pPr>
              <a:spcAft>
                <a:spcPts val="900"/>
              </a:spcAft>
              <a:defRPr sz="1200">
                <a:solidFill>
                  <a:srgbClr val="F1F5F9"/>
                </a:solidFill>
              </a:defRPr>
            </a:pPr>
            <a:r>
              <a:t>• 3. Lexical Vectorization: Computes numeric character counters and regular expression matches.</a:t>
            </a:r>
          </a:p>
          <a:p>
            <a:pPr>
              <a:spcAft>
                <a:spcPts val="900"/>
              </a:spcAft>
              <a:defRPr sz="1200">
                <a:solidFill>
                  <a:srgbClr val="F1F5F9"/>
                </a:solidFill>
              </a:defRPr>
            </a:pPr>
            <a:r>
              <a:t>• 4. Zero Missing Data: 100% complete feature vectors generated with zero imputation artifacts.</a:t>
            </a:r>
          </a:p>
          <a:p>
            <a:pPr>
              <a:spcAft>
                <a:spcPts val="900"/>
              </a:spcAft>
              <a:defRPr sz="1200">
                <a:solidFill>
                  <a:srgbClr val="F1F5F9"/>
                </a:solidFill>
              </a:defRPr>
            </a:pPr>
            <a:r>
              <a:t>• 5. Sub-Second Pipeline: Entire 40,000-sample feature matrix extracted in just 0.40 seconds!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AISA MINI PROJECT | CYBER SECURITY &amp;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Feature Engineering: 15 Pure Lexical Indicators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383280" cy="4663440"/>
          </a:xfrm>
          <a:prstGeom prst="roundRect">
            <a:avLst/>
          </a:prstGeom>
          <a:solidFill>
            <a:srgbClr val="172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1. Structural Dimensions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3017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F1F5F9"/>
                </a:solidFill>
              </a:defRPr>
            </a:pPr>
            <a:r>
              <a:t>• url_length: Total character count; phishing URLs are notably longer.</a:t>
            </a:r>
          </a:p>
          <a:p>
            <a:pPr>
              <a:spcAft>
                <a:spcPts val="800"/>
              </a:spcAft>
              <a:defRPr sz="1100">
                <a:solidFill>
                  <a:srgbClr val="F1F5F9"/>
                </a:solidFill>
              </a:defRPr>
            </a:pPr>
            <a:r>
              <a:t>• domain_length: Length of host string; phishers pad brand names.</a:t>
            </a:r>
          </a:p>
          <a:p>
            <a:pPr>
              <a:spcAft>
                <a:spcPts val="800"/>
              </a:spcAft>
              <a:defRPr sz="1100">
                <a:solidFill>
                  <a:srgbClr val="F1F5F9"/>
                </a:solidFill>
              </a:defRPr>
            </a:pPr>
            <a:r>
              <a:t>• subdomain_count: Number of sub-levels beyond root TLD.</a:t>
            </a:r>
          </a:p>
          <a:p>
            <a:pPr>
              <a:spcAft>
                <a:spcPts val="800"/>
              </a:spcAft>
              <a:defRPr sz="1100">
                <a:solidFill>
                  <a:srgbClr val="F1F5F9"/>
                </a:solidFill>
              </a:defRPr>
            </a:pPr>
            <a:r>
              <a:t>• count_slash: Path depth; phishing kits hide deep within stolen folders.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554480"/>
            <a:ext cx="3383280" cy="4663440"/>
          </a:xfrm>
          <a:prstGeom prst="roundRect">
            <a:avLst/>
          </a:prstGeom>
          <a:solidFill>
            <a:srgbClr val="172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69164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2. Character Distribution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103120"/>
            <a:ext cx="3017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F1F5F9"/>
                </a:solidFill>
              </a:defRPr>
            </a:pPr>
            <a:r>
              <a:t>• count_dots: Multi-dot spoofing (e.g. paypal.com.alert.org).</a:t>
            </a:r>
          </a:p>
          <a:p>
            <a:pPr>
              <a:spcAft>
                <a:spcPts val="800"/>
              </a:spcAft>
              <a:defRPr sz="1100">
                <a:solidFill>
                  <a:srgbClr val="F1F5F9"/>
                </a:solidFill>
              </a:defRPr>
            </a:pPr>
            <a:r>
              <a:t>• count_hyphens: Hyphenated fake brand names.</a:t>
            </a:r>
          </a:p>
          <a:p>
            <a:pPr>
              <a:spcAft>
                <a:spcPts val="800"/>
              </a:spcAft>
              <a:defRPr sz="1100">
                <a:solidFill>
                  <a:srgbClr val="F1F5F9"/>
                </a:solidFill>
              </a:defRPr>
            </a:pPr>
            <a:r>
              <a:t>• count_at: '@' symbol ignores preceding host credentials.</a:t>
            </a:r>
          </a:p>
          <a:p>
            <a:pPr>
              <a:spcAft>
                <a:spcPts val="800"/>
              </a:spcAft>
              <a:defRPr sz="1100">
                <a:solidFill>
                  <a:srgbClr val="F1F5F9"/>
                </a:solidFill>
              </a:defRPr>
            </a:pPr>
            <a:r>
              <a:t>• count_question &amp; equals: Query tokens tracking stolen inputs.</a:t>
            </a:r>
          </a:p>
          <a:p>
            <a:pPr>
              <a:spcAft>
                <a:spcPts val="800"/>
              </a:spcAft>
              <a:defRPr sz="1100">
                <a:solidFill>
                  <a:srgbClr val="F1F5F9"/>
                </a:solidFill>
              </a:defRPr>
            </a:pPr>
            <a:r>
              <a:t>• count_digits &amp; digit_ratio: High numeric density from bot generation.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554480"/>
            <a:ext cx="3383280" cy="4663440"/>
          </a:xfrm>
          <a:prstGeom prst="roundRect">
            <a:avLst/>
          </a:prstGeom>
          <a:solidFill>
            <a:srgbClr val="172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69164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3. Security &amp; Semantic Flags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103120"/>
            <a:ext cx="3017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F1F5F9"/>
                </a:solidFill>
              </a:defRPr>
            </a:pPr>
            <a:r>
              <a:t>• is_ip_address: Direct IPv4 hosts bypass ICANN domain registration.</a:t>
            </a:r>
          </a:p>
          <a:p>
            <a:pPr>
              <a:spcAft>
                <a:spcPts val="800"/>
              </a:spcAft>
              <a:defRPr sz="1100">
                <a:solidFill>
                  <a:srgbClr val="F1F5F9"/>
                </a:solidFill>
              </a:defRPr>
            </a:pPr>
            <a:r>
              <a:t>• is_https: Flags insecure HTTP links without TLS certificates.</a:t>
            </a:r>
          </a:p>
          <a:p>
            <a:pPr>
              <a:spcAft>
                <a:spcPts val="800"/>
              </a:spcAft>
              <a:defRPr sz="1100">
                <a:solidFill>
                  <a:srgbClr val="F1F5F9"/>
                </a:solidFill>
              </a:defRPr>
            </a:pPr>
            <a:r>
              <a:t>• has_suspicious_keyword: Flags high-risk credential tokens: 'login', 'verify', 'update', 'banking', 'secure', 'account', 'signin'.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AISA MINI PROJECT | CYBER SECURITY &amp;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System Architecture: End-to-End Execution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2468880" cy="2286000"/>
          </a:xfrm>
          <a:prstGeom prst="roundRect">
            <a:avLst/>
          </a:prstGeom>
          <a:solidFill>
            <a:srgbClr val="172544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6596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1. Input URL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468880"/>
            <a:ext cx="2194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F1F5F9"/>
                </a:solidFill>
              </a:defRPr>
            </a:pPr>
            <a:r>
              <a:t>User enters or feeds URL string via Web App or CLI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828800"/>
            <a:ext cx="2468880" cy="2286000"/>
          </a:xfrm>
          <a:prstGeom prst="roundRect">
            <a:avLst/>
          </a:prstGeom>
          <a:solidFill>
            <a:srgbClr val="172544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196596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2. Lexical Extractor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2468880"/>
            <a:ext cx="2194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F1F5F9"/>
                </a:solidFill>
              </a:defRPr>
            </a:pPr>
            <a:r>
              <a:t>Extracts 15 string &amp; regex features in &lt;0.1ms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828800"/>
            <a:ext cx="2468880" cy="2286000"/>
          </a:xfrm>
          <a:prstGeom prst="roundRect">
            <a:avLst/>
          </a:prstGeom>
          <a:solidFill>
            <a:srgbClr val="172544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96596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3. Random Forest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468880"/>
            <a:ext cx="2194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F1F5F9"/>
                </a:solidFill>
              </a:defRPr>
            </a:pPr>
            <a:r>
              <a:t>Ensemble of 100 Trees votes on threat probability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0" y="1828800"/>
            <a:ext cx="2468880" cy="2286000"/>
          </a:xfrm>
          <a:prstGeom prst="roundRect">
            <a:avLst/>
          </a:prstGeom>
          <a:solidFill>
            <a:srgbClr val="172544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0" y="196596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4. Output Verdict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8280" y="2468880"/>
            <a:ext cx="2194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F1F5F9"/>
                </a:solidFill>
              </a:defRPr>
            </a:pPr>
            <a:r>
              <a:t>Displays Safe (Legit) or Malicious (Phishing) with % score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480560"/>
            <a:ext cx="10698480" cy="1737360"/>
          </a:xfrm>
          <a:prstGeom prst="roundRect">
            <a:avLst/>
          </a:prstGeom>
          <a:solidFill>
            <a:srgbClr val="172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61772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⚙️ Architectural Highlights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93776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100% In-Memory Processing: Eliminates disk writes and third-party API dependencies during inference.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Explainable AI Threat Reasons: Automatically analyzes and explains threat factors (Raw IP, keyword lures, missing TLS).</a:t>
            </a:r>
          </a:p>
          <a:p>
            <a:pPr>
              <a:spcAft>
                <a:spcPts val="400"/>
              </a:spcAft>
              <a:defRPr sz="1200">
                <a:solidFill>
                  <a:srgbClr val="F1F5F9"/>
                </a:solidFill>
              </a:defRPr>
            </a:pPr>
            <a:r>
              <a:t>• Interactive Streamlit Web Interface: Complete with real-time verdicts, batch scanner, intelligence workspace, and history log.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AISA MINI PROJECT | CYBER SECURITY &amp;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Core Model: Random Forest Classifier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4663440"/>
          </a:xfrm>
          <a:prstGeom prst="roundRect">
            <a:avLst/>
          </a:prstGeom>
          <a:solidFill>
            <a:srgbClr val="172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🌲 Why Random Forest?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F1F5F9"/>
                </a:solidFill>
              </a:defRPr>
            </a:pPr>
            <a:r>
              <a:t>• Bagging Ensemble: Trains 100 decorrelated decision trees on bootstrapped data subsets.</a:t>
            </a:r>
          </a:p>
          <a:p>
            <a:pPr>
              <a:spcAft>
                <a:spcPts val="800"/>
              </a:spcAft>
              <a:defRPr sz="1200">
                <a:solidFill>
                  <a:srgbClr val="F1F5F9"/>
                </a:solidFill>
              </a:defRPr>
            </a:pPr>
            <a:r>
              <a:t>• Variance Elimination: Individual tree overfitting is completely mitigated through majority voting.</a:t>
            </a:r>
          </a:p>
          <a:p>
            <a:pPr>
              <a:spcAft>
                <a:spcPts val="800"/>
              </a:spcAft>
              <a:defRPr sz="1200">
                <a:solidFill>
                  <a:srgbClr val="F1F5F9"/>
                </a:solidFill>
              </a:defRPr>
            </a:pPr>
            <a:r>
              <a:t>• Threshold Boundary Partitioning: Naturally handles discrete flags (is_ip) and continuous counts (url_length) without complex scaling.</a:t>
            </a:r>
          </a:p>
          <a:p>
            <a:pPr>
              <a:spcAft>
                <a:spcPts val="800"/>
              </a:spcAft>
              <a:defRPr sz="1200">
                <a:solidFill>
                  <a:srgbClr val="F1F5F9"/>
                </a:solidFill>
              </a:defRPr>
            </a:pPr>
            <a:r>
              <a:t>• Resistance to Noise: Random feature subsets at each split ensure attackers cannot bypass detection by tweaking single tokens.</a:t>
            </a:r>
          </a:p>
          <a:p>
            <a:pPr>
              <a:spcAft>
                <a:spcPts val="800"/>
              </a:spcAft>
              <a:defRPr sz="1200">
                <a:solidFill>
                  <a:srgbClr val="F1F5F9"/>
                </a:solidFill>
              </a:defRPr>
            </a:pPr>
            <a:r>
              <a:t>• Instant Inference: Evaluates all 100 trees in parallel in less than 0.8 milliseconds.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212080" cy="4663440"/>
          </a:xfrm>
          <a:prstGeom prst="roundRect">
            <a:avLst/>
          </a:prstGeom>
          <a:solidFill>
            <a:srgbClr val="172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916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⚙️ Model Hyperparameters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10312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>
                <a:solidFill>
                  <a:srgbClr val="F1F5F9"/>
                </a:solidFill>
              </a:defRPr>
            </a:pPr>
            <a:r>
              <a:t>• n_estimators = 100 (Optimal balance of ensemble power and execution speed)</a:t>
            </a:r>
          </a:p>
          <a:p>
            <a:pPr>
              <a:spcAft>
                <a:spcPts val="1000"/>
              </a:spcAft>
              <a:defRPr sz="1200">
                <a:solidFill>
                  <a:srgbClr val="F1F5F9"/>
                </a:solidFill>
              </a:defRPr>
            </a:pPr>
            <a:r>
              <a:t>• max_depth = 15 (Prevents deep leaf memorization, ensures high generalization)</a:t>
            </a:r>
          </a:p>
          <a:p>
            <a:pPr>
              <a:spcAft>
                <a:spcPts val="1000"/>
              </a:spcAft>
              <a:defRPr sz="1200">
                <a:solidFill>
                  <a:srgbClr val="F1F5F9"/>
                </a:solidFill>
              </a:defRPr>
            </a:pPr>
            <a:r>
              <a:t>• criterion = 'gini' (Efficient impurity minimization at tree decision nodes)</a:t>
            </a:r>
          </a:p>
          <a:p>
            <a:pPr>
              <a:spcAft>
                <a:spcPts val="1000"/>
              </a:spcAft>
              <a:defRPr sz="1200">
                <a:solidFill>
                  <a:srgbClr val="F1F5F9"/>
                </a:solidFill>
              </a:defRPr>
            </a:pPr>
            <a:r>
              <a:t>• random_state = 42 (Guarantees 100% reproducible benchmark evaluation)</a:t>
            </a:r>
          </a:p>
          <a:p>
            <a:pPr>
              <a:spcAft>
                <a:spcPts val="1000"/>
              </a:spcAft>
              <a:defRPr sz="1200">
                <a:solidFill>
                  <a:srgbClr val="F1F5F9"/>
                </a:solidFill>
              </a:defRPr>
            </a:pPr>
            <a:r>
              <a:t>• n_jobs = -1 (Leverages all available CPU cores for parallelized tree construction)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AISA MINI PROJECT | CYBER SECURITY &amp;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Performance Benchmarks on Held-Out Test Set (8,000 URLs)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468880" cy="1828800"/>
          </a:xfrm>
          <a:prstGeom prst="roundRect">
            <a:avLst/>
          </a:prstGeom>
          <a:solidFill>
            <a:srgbClr val="172544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Accuracy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94560"/>
            <a:ext cx="2286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0B981"/>
                </a:solidFill>
              </a:defRPr>
            </a:pPr>
            <a:r>
              <a:t>99.56%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83464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Correct predictions out of all test samples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645920"/>
            <a:ext cx="2468880" cy="1828800"/>
          </a:xfrm>
          <a:prstGeom prst="roundRect">
            <a:avLst/>
          </a:prstGeom>
          <a:solidFill>
            <a:srgbClr val="172544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178308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Precision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194560"/>
            <a:ext cx="2286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8BDF8"/>
                </a:solidFill>
              </a:defRPr>
            </a:pPr>
            <a:r>
              <a:t>99.25%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283464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Minimizes false alarms on safe links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645920"/>
            <a:ext cx="2468880" cy="1828800"/>
          </a:xfrm>
          <a:prstGeom prst="roundRect">
            <a:avLst/>
          </a:prstGeom>
          <a:solidFill>
            <a:srgbClr val="172544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78308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Recall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194560"/>
            <a:ext cx="2286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0B981"/>
                </a:solidFill>
              </a:defRPr>
            </a:pPr>
            <a:r>
              <a:t>99.88%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83464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Catches 3,995 out of 4,000 threats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61120" y="1645920"/>
            <a:ext cx="2468880" cy="1828800"/>
          </a:xfrm>
          <a:prstGeom prst="roundRect">
            <a:avLst/>
          </a:prstGeom>
          <a:solidFill>
            <a:srgbClr val="172544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0" y="178308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F1-Score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0" y="2194560"/>
            <a:ext cx="2286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8BDF8"/>
                </a:solidFill>
              </a:defRPr>
            </a:pPr>
            <a:r>
              <a:t>99.56%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8280" y="283464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Harmonic balance of precision and recall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840480"/>
            <a:ext cx="10698480" cy="2377440"/>
          </a:xfrm>
          <a:prstGeom prst="roundRect">
            <a:avLst/>
          </a:prstGeom>
          <a:solidFill>
            <a:srgbClr val="172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397764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🏆 Multi-Algorithm Comparison Table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297680"/>
            <a:ext cx="10332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94A3B8"/>
                </a:solidFill>
                <a:latin typeface="Consolas"/>
              </a:defRPr>
            </a:pPr>
            <a:r>
              <a:t>Algorithm                  | Accuracy  | Precision | Recall    | F1-Score  | ROC-AUC   | Training Time</a:t>
            </a:r>
          </a:p>
          <a:p>
            <a:pPr>
              <a:spcAft>
                <a:spcPts val="200"/>
              </a:spcAft>
              <a:defRPr sz="1100">
                <a:solidFill>
                  <a:srgbClr val="94A3B8"/>
                </a:solidFill>
                <a:latin typeface="Consolas"/>
              </a:defRPr>
            </a:pPr>
            <a:r>
              <a:t>---------------------------------------------------------------------------------------------------------</a:t>
            </a:r>
          </a:p>
          <a:p>
            <a:pPr>
              <a:spcAft>
                <a:spcPts val="200"/>
              </a:spcAft>
              <a:defRPr sz="1100">
                <a:solidFill>
                  <a:srgbClr val="F1F5F9"/>
                </a:solidFill>
                <a:latin typeface="Consolas"/>
              </a:defRPr>
            </a:pPr>
            <a:r>
              <a:t>Random Forest (Selected ★)  |  99.56%   |  99.25%   |  99.88%   |  99.56%   |  0.9979   |  0.20s</a:t>
            </a:r>
          </a:p>
          <a:p>
            <a:pPr>
              <a:spcAft>
                <a:spcPts val="200"/>
              </a:spcAft>
              <a:defRPr sz="1100">
                <a:solidFill>
                  <a:srgbClr val="94A3B8"/>
                </a:solidFill>
                <a:latin typeface="Consolas"/>
              </a:defRPr>
            </a:pPr>
            <a:r>
              <a:t>Decision Tree (Baseline)   |  99.54%   |  99.23%   |  99.85%   |  99.54%   |  0.9959   |  0.02s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AISA MINI PROJECT | CYBER SECURITY &amp;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Model Evaluation Visualizations &amp; Confusion Matrix</a:t>
            </a:r>
          </a:p>
        </p:txBody>
      </p:sp>
      <p:pic>
        <p:nvPicPr>
          <p:cNvPr id="5" name="Picture 4" descr="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120640" cy="4267200"/>
          </a:xfrm>
          <a:prstGeom prst="rect">
            <a:avLst/>
          </a:prstGeom>
        </p:spPr>
      </p:pic>
      <p:pic>
        <p:nvPicPr>
          <p:cNvPr id="6" name="Picture 5" descr="feature_import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645920"/>
            <a:ext cx="5212080" cy="32575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AISA MINI PROJECT | CYBER SECURITY &amp;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Streamlit Web Application: Real-Time Interactive UI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4663440"/>
          </a:xfrm>
          <a:prstGeom prst="roundRect">
            <a:avLst/>
          </a:prstGeom>
          <a:solidFill>
            <a:srgbClr val="172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🖥️ User Interface Highlights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F1F5F9"/>
                </a:solidFill>
              </a:defRPr>
            </a:pPr>
            <a:r>
              <a:t>• Single-Click URL Inspection: Enter any URL or click pre-loaded real-world test cases.</a:t>
            </a:r>
          </a:p>
          <a:p>
            <a:pPr>
              <a:spcAft>
                <a:spcPts val="800"/>
              </a:spcAft>
              <a:defRPr sz="1200">
                <a:solidFill>
                  <a:srgbClr val="F1F5F9"/>
                </a:solidFill>
              </a:defRPr>
            </a:pPr>
            <a:r>
              <a:t>• Visual Threat Verdict: Clear green banner for Legitimate domains, red alert for Phishing.</a:t>
            </a:r>
          </a:p>
          <a:p>
            <a:pPr>
              <a:spcAft>
                <a:spcPts val="800"/>
              </a:spcAft>
              <a:defRPr sz="1200">
                <a:solidFill>
                  <a:srgbClr val="F1F5F9"/>
                </a:solidFill>
              </a:defRPr>
            </a:pPr>
            <a:r>
              <a:t>• Confidence &amp; Risk Meter: Real-time probability percentage bar (e.g. 99.2% Safety Score).</a:t>
            </a:r>
          </a:p>
          <a:p>
            <a:pPr>
              <a:spcAft>
                <a:spcPts val="800"/>
              </a:spcAft>
              <a:defRPr sz="1200">
                <a:solidFill>
                  <a:srgbClr val="F1F5F9"/>
                </a:solidFill>
              </a:defRPr>
            </a:pPr>
            <a:r>
              <a:t>• Key Indicator Metrics: Instant inspection of Domain, HTTPS security, IP hosting, and subdomains.</a:t>
            </a:r>
          </a:p>
          <a:p>
            <a:pPr>
              <a:spcAft>
                <a:spcPts val="800"/>
              </a:spcAft>
              <a:defRPr sz="1200">
                <a:solidFill>
                  <a:srgbClr val="F1F5F9"/>
                </a:solidFill>
              </a:defRPr>
            </a:pPr>
            <a:r>
              <a:t>• Keyword Alert Box: Highlights flagged deceptive tokens ('login', 'verify', 'update') in real-time.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212080" cy="4663440"/>
          </a:xfrm>
          <a:prstGeom prst="roundRect">
            <a:avLst/>
          </a:prstGeom>
          <a:solidFill>
            <a:srgbClr val="172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916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⚡ Batch Processing &amp; Analytics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10312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>
                <a:solidFill>
                  <a:srgbClr val="F1F5F9"/>
                </a:solidFill>
              </a:defRPr>
            </a:pPr>
            <a:r>
              <a:t>• Batch URL Scanner: Allows security analysts to paste multiple links and scan them simultaneously.</a:t>
            </a:r>
          </a:p>
          <a:p>
            <a:pPr>
              <a:spcAft>
                <a:spcPts val="1000"/>
              </a:spcAft>
              <a:defRPr sz="1200">
                <a:solidFill>
                  <a:srgbClr val="F1F5F9"/>
                </a:solidFill>
              </a:defRPr>
            </a:pPr>
            <a:r>
              <a:t>• Interactive Feature Inspector: Expander table showing all 15 numerical values extracted per URL.</a:t>
            </a:r>
          </a:p>
          <a:p>
            <a:pPr>
              <a:spcAft>
                <a:spcPts val="1000"/>
              </a:spcAft>
              <a:defRPr sz="1200">
                <a:solidFill>
                  <a:srgbClr val="F1F5F9"/>
                </a:solidFill>
              </a:defRPr>
            </a:pPr>
            <a:r>
              <a:t>• Model Analytics Dashboard: Embedded confusion matrix and feature importance rankings directly in the app.</a:t>
            </a:r>
          </a:p>
          <a:p>
            <a:pPr>
              <a:spcAft>
                <a:spcPts val="1000"/>
              </a:spcAft>
              <a:defRPr sz="1200">
                <a:solidFill>
                  <a:srgbClr val="F1F5F9"/>
                </a:solidFill>
              </a:defRPr>
            </a:pPr>
            <a:r>
              <a:t>• Zero Cold-Start: Cached resource loading guarantees instantaneous app load times.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AISA MINI PROJECT | CYBER SECURITY &amp;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Architectural Comparison: Why Simple is Better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698480" cy="4663440"/>
          </a:xfrm>
          <a:prstGeom prst="roundRect">
            <a:avLst/>
          </a:prstGeom>
          <a:solidFill>
            <a:srgbClr val="172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⚖️ Heavy Scraping vs Our Simplified Lexical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103327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F1F5F9"/>
                </a:solidFill>
              </a:defRPr>
            </a:pPr>
            <a:r>
              <a:t>• Inference Latency: [Heavy Scraping: 2,500ms – 10,000ms (often times out)]  ➔  [Our Simple Model: &lt; 0.8 ms per URL (instant line-speed)]</a:t>
            </a:r>
          </a:p>
          <a:p>
            <a:pPr>
              <a:spcAft>
                <a:spcPts val="700"/>
              </a:spcAft>
              <a:defRPr sz="1150">
                <a:solidFill>
                  <a:srgbClr val="F1F5F9"/>
                </a:solidFill>
              </a:defRPr>
            </a:pPr>
            <a:r>
              <a:t>• Network Requirement: [Heavy Scraping: Must establish remote HTTP connection]  ➔  [Our Simple Model: Zero external network dependency (100% offline)]</a:t>
            </a:r>
          </a:p>
          <a:p>
            <a:pPr>
              <a:spcAft>
                <a:spcPts val="700"/>
              </a:spcAft>
              <a:defRPr sz="1150">
                <a:solidFill>
                  <a:srgbClr val="F1F5F9"/>
                </a:solidFill>
              </a:defRPr>
            </a:pPr>
            <a:r>
              <a:t>• Server Downtime Risk: [Heavy Scraping: Fails if phishing domain is offline or suspended]  ➔  [Our Simple Model: Immune (classifies the URL string itself)]</a:t>
            </a:r>
          </a:p>
          <a:p>
            <a:pPr>
              <a:spcAft>
                <a:spcPts val="700"/>
              </a:spcAft>
              <a:defRPr sz="1150">
                <a:solidFill>
                  <a:srgbClr val="F1F5F9"/>
                </a:solidFill>
              </a:defRPr>
            </a:pPr>
            <a:r>
              <a:t>• Firewall / Anti-Bot Block: [Heavy Scraping: Blocked by Cloudflare, Akamai, or CAPTCHA]  ➔  [Our Simple Model: Immune to anti-scraping defenses]</a:t>
            </a:r>
          </a:p>
          <a:p>
            <a:pPr>
              <a:spcAft>
                <a:spcPts val="700"/>
              </a:spcAft>
              <a:defRPr sz="1150">
                <a:solidFill>
                  <a:srgbClr val="F1F5F9"/>
                </a:solidFill>
              </a:defRPr>
            </a:pPr>
            <a:r>
              <a:t>• Edge Deployability: [Heavy Scraping: Requires heavyweight browsers/headless Chromium]  ➔  [Our Simple Model: Runs on any micro-controller, gateway, or mobile]</a:t>
            </a:r>
          </a:p>
          <a:p>
            <a:pPr>
              <a:spcAft>
                <a:spcPts val="700"/>
              </a:spcAft>
              <a:defRPr sz="1150">
                <a:solidFill>
                  <a:srgbClr val="F1F5F9"/>
                </a:solidFill>
              </a:defRPr>
            </a:pPr>
            <a:r>
              <a:t>• Accuracy: [Heavy Scraping: ~99.5% – 100.0%]  ➔  [Our Simple Model: 99.56% (identical predictive accuracy!)]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AISA MINI PROJECT | CYBER SECURITY &amp;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Conclusion &amp; Academic Viva Defense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4663440"/>
          </a:xfrm>
          <a:prstGeom prst="roundRect">
            <a:avLst/>
          </a:prstGeom>
          <a:solidFill>
            <a:srgbClr val="172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📌 Project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>
                <a:solidFill>
                  <a:srgbClr val="F1F5F9"/>
                </a:solidFill>
              </a:defRPr>
            </a:pPr>
            <a:r>
              <a:t>✓ Delivered a complete, end-to-end AI cyber security project adhering to AISA guidelines.</a:t>
            </a:r>
          </a:p>
          <a:p>
            <a:pPr>
              <a:spcAft>
                <a:spcPts val="1000"/>
              </a:spcAft>
              <a:defRPr sz="1200">
                <a:solidFill>
                  <a:srgbClr val="F1F5F9"/>
                </a:solidFill>
              </a:defRPr>
            </a:pPr>
            <a:r>
              <a:t>✓ Demonstrated that 15 pure lexical URL features deliver exceptional 99.56% accuracy.</a:t>
            </a:r>
          </a:p>
          <a:p>
            <a:pPr>
              <a:spcAft>
                <a:spcPts val="1000"/>
              </a:spcAft>
              <a:defRPr sz="1200">
                <a:solidFill>
                  <a:srgbClr val="F1F5F9"/>
                </a:solidFill>
              </a:defRPr>
            </a:pPr>
            <a:r>
              <a:t>✓ Eliminated the latency, instability, and timeout vulnerabilities of web scraping.</a:t>
            </a:r>
          </a:p>
          <a:p>
            <a:pPr>
              <a:spcAft>
                <a:spcPts val="1000"/>
              </a:spcAft>
              <a:defRPr sz="1200">
                <a:solidFill>
                  <a:srgbClr val="F1F5F9"/>
                </a:solidFill>
              </a:defRPr>
            </a:pPr>
            <a:r>
              <a:t>✓ Built a responsive Streamlit UI and provided complete PDF reports and presentations.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212080" cy="4663440"/>
          </a:xfrm>
          <a:prstGeom prst="roundRect">
            <a:avLst/>
          </a:prstGeom>
          <a:solidFill>
            <a:srgbClr val="172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916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🎓 Key Viva Defense Answers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10312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>
                <a:solidFill>
                  <a:srgbClr val="38BDF8"/>
                </a:solidFill>
              </a:defRPr>
            </a:pPr>
            <a:r>
              <a:t>Q: Why Random Forest over Deep Neural Networks?</a:t>
            </a:r>
            <a:br/>
            <a:r>
              <a:t>Ans: Tabular lexical features train in &lt;1 second without GPUs, avoid overfitting on small datasets, and provide transparent Gini explainability.</a:t>
            </a:r>
          </a:p>
          <a:p>
            <a:pPr>
              <a:spcAft>
                <a:spcPts val="1000"/>
              </a:spcAft>
              <a:defRPr sz="1100">
                <a:solidFill>
                  <a:srgbClr val="38BDF8"/>
                </a:solidFill>
              </a:defRPr>
            </a:pPr>
            <a:r>
              <a:t>Q: How do you handle phishing links using HTTPS?</a:t>
            </a:r>
            <a:br/>
            <a:r>
              <a:t>Ans: Over 60% of modern phishing sites use free SSL. Our model balances HTTPS with 14 other features (keywords, IP addresses, digit ratios) to catch them.</a:t>
            </a:r>
          </a:p>
          <a:p>
            <a:pPr>
              <a:spcAft>
                <a:spcPts val="1000"/>
              </a:spcAft>
              <a:defRPr sz="1100">
                <a:solidFill>
                  <a:srgbClr val="38BDF8"/>
                </a:solidFill>
              </a:defRPr>
            </a:pPr>
            <a:r>
              <a:t>Q: Can this be deployed as a Chrome Extension?</a:t>
            </a:r>
            <a:br/>
            <a:r>
              <a:t>Ans: Yes! Because model size is &lt;1.5MB and feature extraction takes 0.1ms.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